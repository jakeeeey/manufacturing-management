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8288" cy="685800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60175" y="0"/>
            <a:ext cx="18288" cy="685800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9FAFB"/>
                </a:solidFill>
                <a:latin typeface="Segoe UI"/>
              </a:rPr>
              <a:t>VOS ERP SYSTEM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0D9488"/>
                </a:solidFill>
                <a:latin typeface="Segoe UI"/>
              </a:rPr>
              <a:t>Manufacturing &amp; Logistics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6B7280"/>
                </a:solidFill>
                <a:latin typeface="Calibri"/>
              </a:rPr>
              <a:t>Architectural Blueprint, Operational Modules &amp; Infrastructure Specs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9488"/>
                </a:solidFill>
                <a:latin typeface="Segoe UI"/>
              </a:rP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B132B"/>
                </a:solidFill>
                <a:latin typeface="Segoe UI"/>
              </a:rPr>
              <a:t>Technological Foundation &amp; Data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Modern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Frontend: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Next.js 16 (React 19, Server/Client components, App Router).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Design: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Custom Vanilla Tailwind CSS with custom micro-animations (pulsing elements, loaders).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Data Visualization: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Recharts engine for sales forecasting &amp; demand charts.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GIS Mapping: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Maplibre-GL canvas rendering, OSM Nominatim Geocoder API, CartoDB maps.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Database &amp; CMS: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Headless Directus CMS (PostgreSQL/MySQL) serving REST APIs via JWT bearer tokens.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System Output: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Sandboxed &lt;iframe&gt; print engine (calibrated invoice layouts), jspdf-autotable.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Integrated Architectural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1. Sales Order Intake: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Approved orders check credit limits and feed client coordinates to routes.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2. MRP &amp; Forecast: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Statistical forecasting (SMA/Exponential Smoothing) explodes child BOM requirements &amp; raw stock deficits.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3. Planning &amp; Scheduling: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Batch consolidations build Job Orders, map manpower workloads, and fill the schedule calendar.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4. Floor Execution: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Progress tracked from scheduled to completed; checkpoints verify quality gates at each routing step.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5. Dispatch &amp; Delivery: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Nearest-Neighbor sequence optimizes vehicle schedules. Mobile view captures signatures and photos (POD).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9488"/>
                </a:solidFill>
                <a:latin typeface="Segoe UI"/>
              </a:rPr>
              <a:t>CORE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B132B"/>
                </a:solidFill>
                <a:latin typeface="Segoe UI"/>
              </a:rPr>
              <a:t>Demand Forecasting &amp; MRP Material Shortage Explosion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Demand Forecasting &amp;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Historical Integration: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Compiles historical monthly sales and returns from live database invoice endpoints. Seeds simulated data for new products based on SKU tags.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Simple Moving Average (SMA):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Calculates rolling averages over configurable monthly ranges.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Exponential Smoothing: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Applies alpha weight (0.0 to 1.0) to prioritize recent sales: S_t = a*Y_(t-1) + (1-a)*S_(t-1).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Seasonal Extrapolations: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Uses multiplier factors to project recurring peak periods.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572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Material Requirements Planning (MRP)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Deficit Calculation: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Analyzes finished goods production deficit (Projected Demand - Current Warehouse Stock) over 30-day and 90-day periods.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BOM Explosion: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Resolves parent Bill of Materials (BOM) recipes, converting child package variations with correct unit multipliers.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Waste Adjustment: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Factorizes component gross requirements using wastage percent (wastagePercent).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Shortage Alerting: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Flags red alerts for component shortfalls against raw material stock.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Forecast Job dispatch: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One-click batch trigger generates Forecast Job Orders (JO-FORECAST-XXXX) to resolve shortfalls.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9488"/>
                </a:solidFill>
                <a:latin typeface="Segoe UI"/>
              </a:rPr>
              <a:t>CORE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B132B"/>
                </a:solidFill>
                <a:latin typeface="Segoe UI"/>
              </a:rPr>
              <a:t>SKU Catalog, BOM Recipes &amp; COGS Rollup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B132B"/>
                </a:solidFill>
                <a:latin typeface="Segoe UI"/>
              </a:rPr>
              <a:t>SKU &amp; BOM Recipes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6265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SKU Registry: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Standardizes barcode, unit of measure, brand/class, safety stock.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BOM Recipes: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Builds nested component lists (draft vs active versions).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Component Roles: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Handles raw materials, sub-assemblies, and credits by-products as negative cost offsets.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459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B132B"/>
                </a:solidFill>
                <a:latin typeface="Segoe UI"/>
              </a:rPr>
              <a:t>Routings &amp; Overheads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103120"/>
            <a:ext cx="296265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Operations Routing: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Maps sequential work center processes (Mixing, Baking, QA Check).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Cost Metrics: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Calculates Labor Cost + (Machine Hourly Rate * Cycle Hours).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Overhead Allocations: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Integrates admin, logistics, and QA expenses as fixed/percent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6459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B132B"/>
                </a:solidFill>
                <a:latin typeface="Segoe UI"/>
              </a:rPr>
              <a:t>Cost Rollup &amp; Margin Simulator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103120"/>
            <a:ext cx="296265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COGS Aggregator: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Consolidates material, run costs, and overhead margins into standard COGS.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Multi-Scenario Sim: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Allows adjusting target pricing, yield %, forex changes (USD/PHP), and landed costs in real time.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Quotation Integration: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Generates instant margin quotes for client bidding.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9488"/>
                </a:solidFill>
                <a:latin typeface="Segoe UI"/>
              </a:rPr>
              <a:t>CORE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B132B"/>
                </a:solidFill>
                <a:latin typeface="Segoe UI"/>
              </a:rPr>
              <a:t>Production Planning, Batch Consolidation &amp;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Planning &amp; Batch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Batch Consolidation: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Groups multiple pending Sales Orders (1:N mapping) into unified production runs to reduce machine setups &amp; teardowns.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Manpower Workload Analysis: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Aggregates scheduled job durations to calculate operator-specific workload hours against capacities.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Allocation Safeguards: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Flags visual alerts for over-allocated employees (above 40-hr threshold) and highlights unassigned operations.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Job Delegation: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Drag-and-drop or select operator roles directly inside planning sidebar form, moving Job Orders from Draft to Released.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Operations Calendar Cockpit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Visual Calendar Grid: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Interactive monthly dashboard detailing scheduled Job Orders and incoming cargo ETA shipments.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Filters &amp; Controls: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Quick filters to toggle displays: All Schedules, Job Orders Only, or Cargo Shipments Only.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Status Color Coding: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Green indicates normal operation; Red flags material deficits; Sky-Blue signifies incoming shipments.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Slide-Out Panels: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Provides rapid slide-out details showing operator allocations, routing steps, and material components upon clicking event pills.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9488"/>
                </a:solidFill>
                <a:latin typeface="Segoe UI"/>
              </a:rPr>
              <a:t>CORE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B132B"/>
                </a:solidFill>
                <a:latin typeface="Segoe UI"/>
              </a:rPr>
              <a:t>Shop Floor Execution &amp; Quality Control Inspection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Shop Floor Execution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Routing Step Logs: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Operators track and update state transitions: Scheduled -&gt; In Production -&gt; Completed.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Operational Metrics: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Logs actual routing step durations, scrap/waste quantities, worker credentials, and machine run hours.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Ledger Integration: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Completion of final routing steps automatically posts finished goods receipts, adjusting database ledger cards.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Sales Fulfillment: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Updates inventory balances and pushes the parent Sales Order into the invoicing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57200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QA Checklist Inspection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Enforced Gates: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Strict QA inspector validation checkpoints are integrated at every routing operation step.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Execution Constraints: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Operators are blocked from starting subsequent routing steps until the current step is marked as Passed by QA.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Parameters Inspected: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Customizable inspection rules for weight tolerances, dimensions, purity, and cosmetic flaws.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Discrepancy Logging: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Generates reject files and logs operator and QA inspector credentials for full audit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9488"/>
                </a:solidFill>
                <a:latin typeface="Segoe UI"/>
              </a:rPr>
              <a:t>CORE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B132B"/>
                </a:solidFill>
                <a:latin typeface="Segoe UI"/>
              </a:rPr>
              <a:t>GIS Client Registry &amp; Route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Interactive Client GIS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Address Standardization: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Philippine Standard Geographic Code (PSGC) cascades Address Selections (Province -&gt; City -&gt; Barangay).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Maplibre Canvas Widget: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Interactive mapping component within clients form allowing exact point placements.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Map-Form Sync: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Synchronizes typed latitude/longitude to center markers, and marker movements to populate coordinate inputs.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Autocomplete Search: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Integrates OpenStreetMap (OSM) Nominatim Geocoder API for fast location locating.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Basemap Switching: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Toggles between CartoDB layout styles and Esri raster satellite imagery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Nearest-Neighbor Route Optimizer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Consolidated Dispatches: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Logistics managers combine pending client invoices into single delivery dispatches.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Algorithm Optimization: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One-click 'Auto-Optimize Route' calculates the shortest travel sequence using client lat/long data and Haversine distance formulas.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Asset &amp; Load Matching: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Allocates crew members (drivers, helpers) and assigns trucks based on vehicle weight and load volume limits.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Driver Mobile Dispatch: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Provides optimized mobile-friendly sequence listings, status updates, and digital signature panels (Proof of Delivery).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9488"/>
                </a:solidFill>
                <a:latin typeface="Segoe UI"/>
              </a:rPr>
              <a:t>CORE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B132B"/>
                </a:solidFill>
                <a:latin typeface="Segoe UI"/>
              </a:rPr>
              <a:t>Procurement, Landed Costs, &amp; Sales Invoicing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Supply Chain &amp; QA Receiving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Purchase Orders: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Automates supplier RFQs and drafts replenishment POs when raw material inventories hit safety thresholds.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QA Receiving Gate: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Enforces strict test checklists (dimensions, purity, density) at raw warehouses prior to bin releases.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Landed Cost Allocation: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Prorates freight, duties, haulage, and brokerage across incoming cargo components to update raw item standard unit values.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UOM Conversions: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Built-in density conversion engine (e.g. converting raw Metric Tons to liquid Liters).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Invoicing &amp; Continuous Printing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Payment Tracking: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Monitors Invoice statuses (Paid, Unpaid, Partially Paid, Cancelled) and handles checks/bank transactions.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System Performance: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Optimized with lazy-loading modules to defer loading long product bills until modals are expanded.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Sandboxed Printing: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Uses non-blocking &lt;iframe&gt; continuous forms printing to render templates safely away from main client threads.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Alignment Calibration: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Gives users precise page margin customization controls (X/Y axis offset values in millimeters) to support legacy dot-matrix printers.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9488"/>
                </a:solidFill>
                <a:latin typeface="Segoe UI"/>
              </a:rPr>
              <a:t>IT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B132B"/>
                </a:solidFill>
                <a:latin typeface="Segoe UI"/>
              </a:rPr>
              <a:t>Server Infrastructure &amp; Cloud Deployments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Deployment Architecture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Option A - Cloud Hosting (Recommended):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Leverages RDS PostgreSQL (4 vCPU, 16GB RAM, 100GB NVMe storage) for transactional records; EC2 app servers (t3.xlarge) for web clients and Directus CMS; and AWS S3 for secure QA photo and PDF attachments.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Option B - Private On-Premise Rack: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Designed for localized server rooms. Employs Intel Xeon E-2300 (6 Cores/12 Threads), 32GB ECC RAM (12GB db buffers, 12GB Docker, 8GB system), enterprise RAID 10 SSDs, NAS backups, and 1500VA smart UPS power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B132B"/>
                </a:solidFill>
                <a:latin typeface="Segoe UI"/>
              </a:rPr>
              <a:t>Network &amp; Bandwidth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480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Symmetric Bandwidth: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Requires 50 Mbps symmetric business-grade fiber at the main plant, and 20 Mbps symmetric at secondary warehouses. Avoids upload saturation from image uploads.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Latency Control: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Maintains latency under 50ms to the Directus endpoints to ensure responsive dropdown lists and form actions.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Traffic Quality of Service (QoS):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Local routers prioritize ERP URLs (/api/*) over media traffic to prevent lag during busy floor shifts.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111827"/>
                </a:solidFill>
                <a:latin typeface="Calibri"/>
              </a:rPr>
              <a:t>Network Redundancy: </a:t>
            </a:r>
            <a:r>
              <a:rPr sz="1200" b="0" i="0">
                <a:solidFill>
                  <a:srgbClr val="111827"/>
                </a:solidFill>
                <a:latin typeface="Calibri"/>
              </a:rPr>
              <a:t>Implements WAN Failover using Ubiquiti UniFi/Cisco Meraki. Switches automatically to a secondary ISP line or 5G LTE cellular gateway.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73152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0D9488"/>
                </a:solidFill>
                <a:latin typeface="Segoe UI"/>
              </a:rPr>
              <a:t>IT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0B132B"/>
                </a:solidFill>
                <a:latin typeface="Segoe UI"/>
              </a:rPr>
              <a:t>Hardware Recommendations &amp; Workstation Devices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B132B"/>
                </a:solidFill>
                <a:latin typeface="Segoe UI"/>
              </a:rPr>
              <a:t>Shop Floor Terminals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6265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Primary Devices: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Ruggedized 10-inch tablets (Samsung Galaxy Tab Active4 Pro / Lenovo Tab K10). Features IP68 casing and anti-glare screen.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Mounting Setup: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VESA magnetic arm mounts secured to workstation frames to prevent device contact with factory grease.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Peripherals: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Zebra DS2278 wireless scanners for scanning component QR 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63040"/>
            <a:ext cx="3328416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6459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B132B"/>
                </a:solidFill>
                <a:latin typeface="Segoe UI"/>
              </a:rPr>
              <a:t>Warehouse Handhelds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103120"/>
            <a:ext cx="296265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Primary Devices: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Rugged Handheld Barcode Computers (Zebra TC21 / TC26 or Honeywell ScanPal EDA52).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Operational Features: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Integrated high-speed barcode engines, single-handed grip, physical drop-resistance, and long-lasting hot-swappable batteries.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63040"/>
            <a:ext cx="3328416" cy="4572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645920"/>
            <a:ext cx="2962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B132B"/>
                </a:solidFill>
                <a:latin typeface="Segoe UI"/>
              </a:rPr>
              <a:t>Office Terminals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103120"/>
            <a:ext cx="2962656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Primary Devices: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Standard mid-range business laptops or desktop terminals.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111827"/>
                </a:solidFill>
                <a:latin typeface="Calibri"/>
              </a:rPr>
              <a:t>Required Specs: </a:t>
            </a:r>
            <a:r>
              <a:rPr sz="1150" b="0" i="0">
                <a:solidFill>
                  <a:srgbClr val="111827"/>
                </a:solidFill>
                <a:latin typeface="Calibri"/>
              </a:rPr>
              <a:t>Intel Core i5/Ryzen 5 processor, 16GB memory, 256GB storage, and a dual-monitor or 21-inch+ Full HD screen to handle complex batch planning grids and calendar charts.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8288" cy="685800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60175" y="0"/>
            <a:ext cx="18288" cy="685800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1072865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9FAFB"/>
                </a:solidFill>
                <a:latin typeface="Segoe UI"/>
              </a:rPr>
              <a:t>VOS ERP: Key Business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Automated MRP: </a:t>
            </a:r>
            <a:r>
              <a:rPr sz="1400" b="0" i="0">
                <a:solidFill>
                  <a:srgbClr val="F9FAFB"/>
                </a:solidFill>
                <a:latin typeface="Calibri"/>
              </a:rPr>
              <a:t>Eliminates unexpected raw material shortages and scales manufacturing operations dynamically.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Operational Safety: </a:t>
            </a:r>
            <a:r>
              <a:rPr sz="1400" b="0" i="0">
                <a:solidFill>
                  <a:srgbClr val="F9FAFB"/>
                </a:solidFill>
                <a:latin typeface="Calibri"/>
              </a:rPr>
              <a:t>Enforces strict step-by-step QA inspection gates, halting errors before they hit final inventories.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Logistics Savings: </a:t>
            </a:r>
            <a:r>
              <a:rPr sz="1400" b="0" i="0">
                <a:solidFill>
                  <a:srgbClr val="F9FAFB"/>
                </a:solidFill>
                <a:latin typeface="Calibri"/>
              </a:rPr>
              <a:t>Reduces fuel and driving time via automated Nearest-Neighbor GPS route optimization.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Precise COGS Rollup: </a:t>
            </a:r>
            <a:r>
              <a:rPr sz="1400" b="0" i="0">
                <a:solidFill>
                  <a:srgbClr val="F9FAFB"/>
                </a:solidFill>
                <a:latin typeface="Calibri"/>
              </a:rPr>
              <a:t>Guarantees accurate cost rollups and real-time margin simulations, improving pricing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