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8288" cy="685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60175" y="0"/>
            <a:ext cx="18288" cy="685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1072865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 i="0">
                <a:solidFill>
                  <a:srgbClr val="F8FAFC"/>
                </a:solidFill>
                <a:latin typeface="Segoe UI"/>
              </a:rPr>
              <a:t>VOS ERP PLATFORM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8BDF8"/>
                </a:solidFill>
                <a:latin typeface="Segoe UI"/>
              </a:rPr>
              <a:t>Technical Blueprint &amp; System Integration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4A3B8"/>
                </a:solidFill>
                <a:latin typeface="Segoe UI"/>
              </a:rPr>
              <a:t>End-to-End Enterprise Architecture, Industrial Workstations &amp; Networking Protocols</a:t>
            </a:r>
          </a:p>
        </p:txBody>
      </p:sp>
    </p:spTree>
  </p:cSld>
  <p:transition spd="slow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38BDF8"/>
                </a:solidFill>
                <a:latin typeface="Segoe UI"/>
              </a:rPr>
              <a:t>PLATFORM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8FAFC"/>
                </a:solidFill>
                <a:latin typeface="Segoe UI"/>
              </a:rPr>
              <a:t>Technological Foundation &amp; Data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F8FAFC"/>
                </a:solidFill>
                <a:latin typeface="Segoe UI"/>
              </a:rPr>
              <a:t>System Stack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5720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Client Frame: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Next.js 16 (React 19 App Router client-server structures).</a:t>
            </a:r>
          </a:p>
          <a:p>
            <a:pPr>
              <a:spcAft>
                <a:spcPts val="3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UI Aesthetics: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Tailwind theme configurations and micro-animations.</a:t>
            </a:r>
          </a:p>
          <a:p>
            <a:pPr>
              <a:spcAft>
                <a:spcPts val="3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Data Charts: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Recharts rendering engine for forecasting trends.</a:t>
            </a:r>
          </a:p>
          <a:p>
            <a:pPr>
              <a:spcAft>
                <a:spcPts val="3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GIS Mapping: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Maplibre-GL canvas interfaces &amp; Nominatim address lookups.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792" y="1371600"/>
            <a:ext cx="512064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14630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F8FAFC"/>
                </a:solidFill>
                <a:latin typeface="Segoe UI"/>
              </a:rPr>
              <a:t>Core Integration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828800"/>
            <a:ext cx="45720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Database CMS: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Headless Directus API integrations secured by static JWTs.</a:t>
            </a:r>
          </a:p>
          <a:p>
            <a:pPr>
              <a:spcAft>
                <a:spcPts val="3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Asset Files: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AWS S3 storage pipelines for mobile POD photos and signatures.</a:t>
            </a:r>
          </a:p>
          <a:p>
            <a:pPr>
              <a:spcAft>
                <a:spcPts val="3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Sandboxed Print: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WebGL safe, non-blocking &lt;iframe&gt; print engines.</a:t>
            </a:r>
          </a:p>
          <a:p>
            <a:pPr>
              <a:spcAft>
                <a:spcPts val="3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Report Builder: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jspdf &amp; jspdf-autotable engine utilizing unified templates.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 i="0">
                <a:solidFill>
                  <a:srgbClr val="38BDF8"/>
                </a:solidFill>
                <a:latin typeface="Segoe UI"/>
              </a:rPr>
              <a:t>FIGURE 1: Multi-Tier Integration 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34840"/>
            <a:ext cx="20116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Segoe UI"/>
              </a:rPr>
              <a:t>Client Devices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Segoe UI"/>
              </a:rPr>
              <a:t>Android/Windows rugged</a:t>
            </a:r>
            <a:br/>
            <a:r>
              <a:t>tablets and PCs.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834640" y="5189220"/>
            <a:ext cx="711098" cy="13716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37178" y="4434840"/>
            <a:ext cx="20116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7178" y="45720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Segoe UI"/>
              </a:rPr>
              <a:t>Next.js Web / BFF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7178" y="5029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Segoe UI"/>
              </a:rPr>
              <a:t>React 19 Server</a:t>
            </a:r>
            <a:br/>
            <a:r>
              <a:t>Components on Node.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740298" y="5189220"/>
            <a:ext cx="711098" cy="13716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42836" y="4434840"/>
            <a:ext cx="20116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2836" y="45720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Segoe UI"/>
              </a:rPr>
              <a:t>Directus CMS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2836" y="5029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Segoe UI"/>
              </a:rPr>
              <a:t>Headless CMS API with</a:t>
            </a:r>
            <a:br/>
            <a:r>
              <a:t>JWT bearer tokens.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645956" y="5189220"/>
            <a:ext cx="711098" cy="13716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48495" y="4434840"/>
            <a:ext cx="20116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48495" y="45720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Segoe UI"/>
              </a:rPr>
              <a:t>PostgreSQL &amp; S3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8495" y="5029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Segoe UI"/>
              </a:rPr>
              <a:t>Secure transactions &amp;</a:t>
            </a:r>
            <a:br/>
            <a:r>
              <a:t>media asset storage.</a:t>
            </a:r>
          </a:p>
        </p:txBody>
      </p:sp>
    </p:spTree>
  </p:cSld>
  <p:transition spd="slow">
    <p:push dir="l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38BDF8"/>
                </a:solidFill>
                <a:latin typeface="Segoe UI"/>
              </a:rPr>
              <a:t>CORE 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8FAFC"/>
                </a:solidFill>
                <a:latin typeface="Segoe UI"/>
              </a:rPr>
              <a:t>Sales Forecasting &amp; Material Shortage Explosion (MRP)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38BDF8"/>
                </a:solidFill>
                <a:latin typeface="Segoe UI"/>
              </a:rPr>
              <a:t>90-Day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94A3B8"/>
                </a:solidFill>
                <a:latin typeface="Segoe UI"/>
              </a:rPr>
              <a:t>DEFICIT FORECAST HORIZON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45720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SMA Models: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Rolling mean sales calculated over custom month scales.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Smooth Weights: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Alpha multipliers (0 to 1) prioritize recent sales: S_t = a*Y_t-1 + (1-a)*S_t-1.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Simulated Inputs: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Seeds forecast paths using item SKU traits where data is thin.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Job Dispatch: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One-click trigger releasing Forecast Job Orders (JO-FORECAST-XXXX).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137160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1554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 i="0">
                <a:solidFill>
                  <a:srgbClr val="F8FAFC"/>
                </a:solidFill>
                <a:latin typeface="Segoe UI"/>
              </a:rPr>
              <a:t>Forecasting Mockup (SMA / Trend)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11112" y="1920240"/>
            <a:ext cx="457200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11112" y="2212848"/>
            <a:ext cx="4572000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11112" y="2505456"/>
            <a:ext cx="4572000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11112" y="2798064"/>
            <a:ext cx="4572000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11112" y="3090672"/>
            <a:ext cx="4572000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86958" y="2816352"/>
            <a:ext cx="351692" cy="38404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4496" y="2673705"/>
            <a:ext cx="351692" cy="52669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42035" y="2893161"/>
            <a:ext cx="351692" cy="30723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69573" y="2596896"/>
            <a:ext cx="351692" cy="60350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97112" y="2454249"/>
            <a:ext cx="351692" cy="7461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24650" y="2651760"/>
            <a:ext cx="351692" cy="5486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952188" y="2520086"/>
            <a:ext cx="351692" cy="680313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79727" y="2410358"/>
            <a:ext cx="351692" cy="790041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007265" y="2322576"/>
            <a:ext cx="351692" cy="87782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11112" y="3474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 i="0">
                <a:solidFill>
                  <a:srgbClr val="34D399"/>
                </a:solidFill>
                <a:latin typeface="Segoe UI"/>
              </a:rPr>
              <a:t>FIGURE 2: Core MRP Explosion Flow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11112" y="3931919"/>
            <a:ext cx="201168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1112" y="4023359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Segoe UI"/>
              </a:rPr>
              <a:t>Sales Demand</a:t>
            </a:r>
            <a:br/>
            <a:r>
              <a:t>(Historical Trend)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11112" y="5212079"/>
            <a:ext cx="201168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5303519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Segoe UI"/>
              </a:rPr>
              <a:t>Warehouse Stock</a:t>
            </a:r>
            <a:br/>
            <a:r>
              <a:t>(Real-Time)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714232" y="4297679"/>
            <a:ext cx="548640" cy="109728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Arrow 31"/>
          <p:cNvSpPr/>
          <p:nvPr/>
        </p:nvSpPr>
        <p:spPr>
          <a:xfrm>
            <a:off x="8714232" y="5577839"/>
            <a:ext cx="548640" cy="109728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54312" y="4206239"/>
            <a:ext cx="1645920" cy="164592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4663439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  <a:latin typeface="Segoe UI"/>
              </a:rPr>
              <a:t>MRP Engine</a:t>
            </a:r>
            <a:br/>
            <a:r>
              <a:t>Explosion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11091672" y="4937759"/>
            <a:ext cx="548640" cy="109728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1731752" y="3931919"/>
            <a:ext cx="201168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31752" y="4023359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87171"/>
                </a:solidFill>
                <a:latin typeface="Segoe UI"/>
              </a:rPr>
              <a:t>Component Deficits</a:t>
            </a:r>
            <a:br/>
            <a:r>
              <a:t>(Purchase Orders)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731752" y="5212079"/>
            <a:ext cx="201168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731752" y="5303519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38BDF8"/>
                </a:solidFill>
                <a:latin typeface="Segoe UI"/>
              </a:rPr>
              <a:t>Job Order Release</a:t>
            </a:r>
            <a:br/>
            <a:r>
              <a:t>(Scheduled Batches)</a:t>
            </a:r>
          </a:p>
        </p:txBody>
      </p:sp>
    </p:spTree>
  </p:cSld>
  <p:transition spd="slow">
    <p:push dir="l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38BDF8"/>
                </a:solidFill>
                <a:latin typeface="Segoe UI"/>
              </a:rPr>
              <a:t>CORE 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8FAFC"/>
                </a:solidFill>
                <a:latin typeface="Segoe UI"/>
              </a:rPr>
              <a:t>SKU Catalog, BOM Recipes &amp; COGS Rollup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28416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296265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38BDF8"/>
                </a:solidFill>
                <a:latin typeface="Segoe UI"/>
              </a:rPr>
              <a:t>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29968"/>
            <a:ext cx="2962656" cy="256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94A3B8"/>
                </a:solidFill>
                <a:latin typeface="Segoe UI"/>
              </a:rPr>
              <a:t>BOM LIFECYCLE STATES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2962656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 i="0">
                <a:solidFill>
                  <a:srgbClr val="F8FAFC"/>
                </a:solidFill>
                <a:latin typeface="Segoe UI"/>
              </a:rPr>
              <a:t>• SKU Catalog: </a:t>
            </a:r>
            <a:r>
              <a:rPr sz="1100" b="0" i="0">
                <a:solidFill>
                  <a:srgbClr val="94A3B8"/>
                </a:solidFill>
                <a:latin typeface="Segoe UI"/>
              </a:rPr>
              <a:t>Safety limits, categories, and unit conversions.</a:t>
            </a:r>
          </a:p>
          <a:p>
            <a:pPr>
              <a:spcAft>
                <a:spcPts val="300"/>
              </a:spcAft>
            </a:pPr>
            <a:r>
              <a:rPr sz="1100" b="1" i="0">
                <a:solidFill>
                  <a:srgbClr val="F8FAFC"/>
                </a:solidFill>
                <a:latin typeface="Segoe UI"/>
              </a:rPr>
              <a:t>• Nested BOM: </a:t>
            </a:r>
            <a:r>
              <a:rPr sz="1100" b="0" i="0">
                <a:solidFill>
                  <a:srgbClr val="94A3B8"/>
                </a:solidFill>
                <a:latin typeface="Segoe UI"/>
              </a:rPr>
              <a:t>Physical density metrics, version controls, and by-product cost offsets.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371600"/>
            <a:ext cx="3328416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554480"/>
            <a:ext cx="296265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34D399"/>
                </a:solidFill>
                <a:latin typeface="Segoe UI"/>
              </a:rPr>
              <a:t>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029968"/>
            <a:ext cx="2962656" cy="256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94A3B8"/>
                </a:solidFill>
                <a:latin typeface="Segoe UI"/>
              </a:rPr>
              <a:t>SEQUENTIAL ROUTINGS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377440"/>
            <a:ext cx="2962656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 i="0">
                <a:solidFill>
                  <a:srgbClr val="F8FAFC"/>
                </a:solidFill>
                <a:latin typeface="Segoe UI"/>
              </a:rPr>
              <a:t>• Sequence Routing: </a:t>
            </a:r>
            <a:r>
              <a:rPr sz="1100" b="0" i="0">
                <a:solidFill>
                  <a:srgbClr val="94A3B8"/>
                </a:solidFill>
                <a:latin typeface="Segoe UI"/>
              </a:rPr>
              <a:t>Maps Mixing, Baking, and Inspection tasks to machine work centers.</a:t>
            </a:r>
          </a:p>
          <a:p>
            <a:pPr>
              <a:spcAft>
                <a:spcPts val="300"/>
              </a:spcAft>
            </a:pPr>
            <a:r>
              <a:rPr sz="1100" b="1" i="0">
                <a:solidFill>
                  <a:srgbClr val="F8FAFC"/>
                </a:solidFill>
                <a:latin typeface="Segoe UI"/>
              </a:rPr>
              <a:t>• Run Costs: </a:t>
            </a:r>
            <a:r>
              <a:rPr sz="1100" b="0" i="0">
                <a:solidFill>
                  <a:srgbClr val="94A3B8"/>
                </a:solidFill>
                <a:latin typeface="Segoe UI"/>
              </a:rPr>
              <a:t>Labor Cost + (Machine Hourly Rate * Cycle Hours).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371600"/>
            <a:ext cx="3328416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554480"/>
            <a:ext cx="296265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BBF24"/>
                </a:solidFill>
                <a:latin typeface="Segoe UI"/>
              </a:rPr>
              <a:t>USD/PHP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029968"/>
            <a:ext cx="2962656" cy="256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94A3B8"/>
                </a:solidFill>
                <a:latin typeface="Segoe UI"/>
              </a:rPr>
              <a:t>FOREX MARGIN SIMULATOR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377440"/>
            <a:ext cx="2962656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 i="0">
                <a:solidFill>
                  <a:srgbClr val="F8FAFC"/>
                </a:solidFill>
                <a:latin typeface="Segoe UI"/>
              </a:rPr>
              <a:t>• Margin Configs: </a:t>
            </a:r>
            <a:r>
              <a:rPr sz="1100" b="0" i="0">
                <a:solidFill>
                  <a:srgbClr val="94A3B8"/>
                </a:solidFill>
                <a:latin typeface="Segoe UI"/>
              </a:rPr>
              <a:t>Simulates yields, target selling markups, and landed cost overrides.</a:t>
            </a:r>
          </a:p>
          <a:p>
            <a:pPr>
              <a:spcAft>
                <a:spcPts val="300"/>
              </a:spcAft>
            </a:pPr>
            <a:r>
              <a:rPr sz="1100" b="1" i="0">
                <a:solidFill>
                  <a:srgbClr val="F8FAFC"/>
                </a:solidFill>
                <a:latin typeface="Segoe UI"/>
              </a:rPr>
              <a:t>• Quote Pipeline: </a:t>
            </a:r>
            <a:r>
              <a:rPr sz="1100" b="0" i="0">
                <a:solidFill>
                  <a:srgbClr val="94A3B8"/>
                </a:solidFill>
                <a:latin typeface="Segoe UI"/>
              </a:rPr>
              <a:t>Instant quote parameter saves linked to client bids.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 i="0">
                <a:solidFill>
                  <a:srgbClr val="38BDF8"/>
                </a:solidFill>
                <a:latin typeface="Segoe UI"/>
              </a:rPr>
              <a:t>FIGURE 3: Standard COGS Cost Component Rollup Structure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029200"/>
            <a:ext cx="5364327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5847" y="5029200"/>
            <a:ext cx="3218596" cy="5486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14444" y="5029200"/>
            <a:ext cx="2145731" cy="5486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120640"/>
            <a:ext cx="536432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Segoe UI"/>
              </a:rPr>
              <a:t>Material Costs (50%)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5847" y="5120640"/>
            <a:ext cx="32185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Segoe UI"/>
              </a:rPr>
              <a:t>Routing Run (30%)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4444" y="5120640"/>
            <a:ext cx="21457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Segoe UI"/>
              </a:rPr>
              <a:t>Overheads (20%)</a:t>
            </a:r>
          </a:p>
        </p:txBody>
      </p:sp>
    </p:spTree>
  </p:cSld>
  <p:transition spd="slow">
    <p:push dir="l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38BDF8"/>
                </a:solidFill>
                <a:latin typeface="Segoe UI"/>
              </a:rPr>
              <a:t>CORE 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8FAFC"/>
                </a:solidFill>
                <a:latin typeface="Segoe UI"/>
              </a:rPr>
              <a:t>Production Planning, Batch Consolidation &amp; Scheduling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87171"/>
                </a:solidFill>
                <a:latin typeface="Segoe UI"/>
              </a:rPr>
              <a:t>40 Hrs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94A3B8"/>
                </a:solidFill>
                <a:latin typeface="Segoe UI"/>
              </a:rPr>
              <a:t>OVER-ALLOCATION CAPACITY ALERT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45720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Batch Consolidation: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Groups multiple pending Sales Orders (1:N mapping) into unified production runs to reduce machine setups &amp; teardowns.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Manpower Workload: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Aggregates scheduled job durations to calculate operator-specific workload hours against capacity thresholds.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Operator Assignments: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Allows scheduling engineers to delegate specific operators to individual routing tasks in the Job Order.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137160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1554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F8FAFC"/>
                </a:solidFill>
                <a:latin typeface="Segoe UI"/>
              </a:rPr>
              <a:t>Operations Calendar Cockpit Mockup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11112" y="1920240"/>
            <a:ext cx="45720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12280" y="2121408"/>
            <a:ext cx="1014984" cy="51206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63840" y="2121408"/>
            <a:ext cx="1014984" cy="51206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00416" y="2286000"/>
            <a:ext cx="941832" cy="19202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15400" y="2121408"/>
            <a:ext cx="1014984" cy="51206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966960" y="2121408"/>
            <a:ext cx="1014984" cy="51206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12280" y="2670048"/>
            <a:ext cx="1014984" cy="51206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63840" y="2670048"/>
            <a:ext cx="1014984" cy="51206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15400" y="2670048"/>
            <a:ext cx="1014984" cy="51206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51976" y="2834640"/>
            <a:ext cx="941832" cy="192024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966960" y="2670048"/>
            <a:ext cx="1014984" cy="51206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12280" y="3218688"/>
            <a:ext cx="1014984" cy="51206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48856" y="3383280"/>
            <a:ext cx="941832" cy="19202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863840" y="3218688"/>
            <a:ext cx="1014984" cy="51206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15400" y="3218688"/>
            <a:ext cx="1014984" cy="51206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966960" y="3218688"/>
            <a:ext cx="1014984" cy="51206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1112" y="4114800"/>
            <a:ext cx="45720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Grid Dashboard: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Displays Job Orders and incoming cargo ETA shipments.</a:t>
            </a:r>
          </a:p>
          <a:p>
            <a:pPr>
              <a:spcAft>
                <a:spcPts val="4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Color Coding: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Green (normal), Red (deficits), and Sky-Blue (cargo).</a:t>
            </a:r>
          </a:p>
          <a:p>
            <a:pPr>
              <a:spcAft>
                <a:spcPts val="4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Slide-Out Panel: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Instant component data and operator schedules.</a:t>
            </a:r>
          </a:p>
        </p:txBody>
      </p:sp>
    </p:spTree>
  </p:cSld>
  <p:transition spd="slow">
    <p:push dir="l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38BDF8"/>
                </a:solidFill>
                <a:latin typeface="Segoe UI"/>
              </a:rPr>
              <a:t>CORE 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8FAFC"/>
                </a:solidFill>
                <a:latin typeface="Segoe UI"/>
              </a:rPr>
              <a:t>Shop Floor Execution &amp; Quality Control Inspection Gates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38BDF8"/>
                </a:solidFill>
                <a:latin typeface="Segoe UI"/>
              </a:rPr>
              <a:t>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94A3B8"/>
                </a:solidFill>
                <a:latin typeface="Segoe UI"/>
              </a:rPr>
              <a:t>AUTOMATIC LEDGER POSTING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45720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Status Logging: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Scheduled -&gt; In Production -&gt; Completed state logs.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Scrap &amp; Operations: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Registers actual step durations, operator credentials, waste, and machine run hours.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Warehouse Release: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Completing the final routing step automatically updates database ledger cards and flags items as ready for invoice.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137160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1554480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34D399"/>
                </a:solidFill>
                <a:latin typeface="Segoe UI"/>
              </a:rPr>
              <a:t>Passed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21488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94A3B8"/>
                </a:solidFill>
                <a:latin typeface="Segoe UI"/>
              </a:rPr>
              <a:t>STEP QA CHECKOFF REQUIREMENT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2743200"/>
            <a:ext cx="4572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Enforced Gates: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Strict QA inspector validation checkpoints are integrated at every routing operation step.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Blocked Progress: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Operators are blocked from starting subsequent routing steps until the current step is marked as Passed by QA.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4114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 i="0">
                <a:solidFill>
                  <a:srgbClr val="34D399"/>
                </a:solidFill>
                <a:latin typeface="Segoe UI"/>
              </a:rPr>
              <a:t>FIGURE 4: Shop Floor Production Progress</a:t>
            </a:r>
          </a:p>
        </p:txBody>
      </p:sp>
      <p:sp>
        <p:nvSpPr>
          <p:cNvPr id="15" name="Chevron 14"/>
          <p:cNvSpPr/>
          <p:nvPr/>
        </p:nvSpPr>
        <p:spPr>
          <a:xfrm>
            <a:off x="6492240" y="4572000"/>
            <a:ext cx="1188720" cy="914400"/>
          </a:xfrm>
          <a:prstGeom prst="chevron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1. Scheduled</a:t>
            </a:r>
          </a:p>
        </p:txBody>
      </p:sp>
      <p:sp>
        <p:nvSpPr>
          <p:cNvPr id="16" name="Chevron 15"/>
          <p:cNvSpPr/>
          <p:nvPr/>
        </p:nvSpPr>
        <p:spPr>
          <a:xfrm>
            <a:off x="7735824" y="4572000"/>
            <a:ext cx="1188720" cy="914400"/>
          </a:xfrm>
          <a:prstGeom prst="chevron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F172A"/>
                </a:solidFill>
                <a:latin typeface="Segoe UI"/>
              </a:rPr>
              <a:t>2. Production</a:t>
            </a:r>
          </a:p>
        </p:txBody>
      </p:sp>
      <p:sp>
        <p:nvSpPr>
          <p:cNvPr id="17" name="Chevron 16"/>
          <p:cNvSpPr/>
          <p:nvPr/>
        </p:nvSpPr>
        <p:spPr>
          <a:xfrm>
            <a:off x="8979408" y="4572000"/>
            <a:ext cx="1188720" cy="914400"/>
          </a:xfrm>
          <a:prstGeom prst="chevron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F172A"/>
                </a:solidFill>
                <a:latin typeface="Segoe UI"/>
              </a:rPr>
              <a:t>3. QA Inspector</a:t>
            </a:r>
          </a:p>
        </p:txBody>
      </p:sp>
      <p:sp>
        <p:nvSpPr>
          <p:cNvPr id="18" name="Chevron 17"/>
          <p:cNvSpPr/>
          <p:nvPr/>
        </p:nvSpPr>
        <p:spPr>
          <a:xfrm>
            <a:off x="10222992" y="4572000"/>
            <a:ext cx="1188720" cy="914400"/>
          </a:xfrm>
          <a:prstGeom prst="chevron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4. Completed</a:t>
            </a:r>
          </a:p>
        </p:txBody>
      </p:sp>
    </p:spTree>
  </p:cSld>
  <p:transition spd="slow">
    <p:push dir="l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38BDF8"/>
                </a:solidFill>
                <a:latin typeface="Segoe UI"/>
              </a:rPr>
              <a:t>CORE MODULE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8FAFC"/>
                </a:solidFill>
                <a:latin typeface="Segoe UI"/>
              </a:rPr>
              <a:t>GIS Client Registry &amp; Route Optimization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38BDF8"/>
                </a:solidFill>
                <a:latin typeface="Segoe UI"/>
              </a:rPr>
              <a:t>PSGC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94A3B8"/>
                </a:solidFill>
                <a:latin typeface="Segoe UI"/>
              </a:rPr>
              <a:t>STANDARDIZED ADDRESS DROPDOWN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45720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Cascading address: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Province -&gt; City/Municipality -&gt; Barangay address selects.</a:t>
            </a:r>
          </a:p>
          <a:p>
            <a:pPr>
              <a:spcAft>
                <a:spcPts val="6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Coordinate Sync: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Interactive Maplibre-GL markers center typing lat/long coords; marker movements update database inputs.</a:t>
            </a:r>
          </a:p>
          <a:p>
            <a:pPr>
              <a:spcAft>
                <a:spcPts val="6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API Search: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OSM Nominatim Geocoder autocompletes address inputs.</a:t>
            </a:r>
          </a:p>
          <a:p>
            <a:pPr>
              <a:spcAft>
                <a:spcPts val="6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Sat Toggle: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Switches basemaps between CartoDB and Esri raster satellite layers.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137160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1554480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34D399"/>
                </a:solidFill>
                <a:latin typeface="Segoe UI"/>
              </a:rPr>
              <a:t>1:N 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21488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94A3B8"/>
                </a:solidFill>
                <a:latin typeface="Segoe UI"/>
              </a:rPr>
              <a:t>DISPATCH CONSOLIDATION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274320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Route Auto-Optimize: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Uses customer GPS nodes and Haversine distance calculations to sequence stops, minimizing travel mileage.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4023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 i="0">
                <a:solidFill>
                  <a:srgbClr val="34D399"/>
                </a:solidFill>
                <a:latin typeface="Segoe UI"/>
              </a:rPr>
              <a:t>FIGURE 5: Nearest-Neighbor Optimizer Flow</a:t>
            </a:r>
          </a:p>
        </p:txBody>
      </p:sp>
      <p:sp>
        <p:nvSpPr>
          <p:cNvPr id="15" name="Oval 14"/>
          <p:cNvSpPr/>
          <p:nvPr/>
        </p:nvSpPr>
        <p:spPr>
          <a:xfrm>
            <a:off x="6492240" y="4480560"/>
            <a:ext cx="1097280" cy="109728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57200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94A3B8"/>
                </a:solidFill>
                <a:latin typeface="Segoe UI"/>
              </a:rPr>
              <a:t>1. Warehouse</a:t>
            </a:r>
            <a:br/>
            <a:r>
              <a:t>(Load Hub)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635240" y="4974336"/>
            <a:ext cx="30480" cy="109728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11440" y="4480560"/>
            <a:ext cx="1097280" cy="1097280"/>
          </a:xfrm>
          <a:prstGeom prst="ellipse">
            <a:avLst/>
          </a:prstGeom>
          <a:solidFill>
            <a:srgbClr val="38BDF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11440" y="457200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F172A"/>
                </a:solidFill>
                <a:latin typeface="Segoe UI"/>
              </a:rPr>
              <a:t>2. Nearest Stop</a:t>
            </a:r>
            <a:br/>
            <a:r>
              <a:t>(Haversine Node)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54440" y="4974336"/>
            <a:ext cx="30480" cy="109728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30640" y="4480560"/>
            <a:ext cx="1097280" cy="1097280"/>
          </a:xfrm>
          <a:prstGeom prst="ellipse">
            <a:avLst/>
          </a:prstGeom>
          <a:solidFill>
            <a:srgbClr val="34D399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30640" y="457200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F172A"/>
                </a:solidFill>
                <a:latin typeface="Segoe UI"/>
              </a:rPr>
              <a:t>3. Optimized</a:t>
            </a:r>
            <a:br/>
            <a:r>
              <a:t>Sequence Map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0073640" y="4974336"/>
            <a:ext cx="30480" cy="109728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49840" y="4480560"/>
            <a:ext cx="1097280" cy="109728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457200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8FAFC"/>
                </a:solidFill>
                <a:latin typeface="Segoe UI"/>
              </a:rPr>
              <a:t>4. Dispatch POD</a:t>
            </a:r>
            <a:br/>
            <a:r>
              <a:t>(Signed Loop)</a:t>
            </a:r>
          </a:p>
        </p:txBody>
      </p:sp>
    </p:spTree>
  </p:cSld>
  <p:transition spd="slow">
    <p:push dir="l"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38BDF8"/>
                </a:solidFill>
                <a:latin typeface="Segoe UI"/>
              </a:rPr>
              <a:t>CORE MODULE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8FAFC"/>
                </a:solidFill>
                <a:latin typeface="Segoe UI"/>
              </a:rPr>
              <a:t>Crew Allocations &amp; Mobile Proof of Delivery (POD)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BBF24"/>
                </a:solidFill>
                <a:latin typeface="Segoe UI"/>
              </a:rPr>
              <a:t>Kg / 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94A3B8"/>
                </a:solidFill>
                <a:latin typeface="Segoe UI"/>
              </a:rPr>
              <a:t>VEHICLE LOAD CAPACITY LIMITS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45720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Crew Assignment: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Assigns drivers, helpers, and trucks tracking load capacity thresholds.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Dispatch list: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Compiles consolidated dispatches of group invoices into one run.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Return requests: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Handles customer returns directly from logistics drop-offs, updating warehouse ledgers with reason codes.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137160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15544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38BDF8"/>
                </a:solidFill>
                <a:latin typeface="Segoe UI"/>
              </a:rPr>
              <a:t>FIGURE 6: Driver Mobile Interface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11112" y="2011680"/>
            <a:ext cx="2011680" cy="365760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02552" y="2286000"/>
            <a:ext cx="1828800" cy="3108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93992" y="2468880"/>
            <a:ext cx="1645920" cy="228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93992" y="2834640"/>
            <a:ext cx="1645920" cy="228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93992" y="3200400"/>
            <a:ext cx="1645920" cy="228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39712" y="4462272"/>
            <a:ext cx="15544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3992" y="450799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94A3B8"/>
                </a:solidFill>
                <a:latin typeface="Segoe UI"/>
              </a:rPr>
              <a:t>Digital Signature Capture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011680"/>
            <a:ext cx="24688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Mobile View: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Shows drivers route stop lists.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Proof of Delivery: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Uploads photo checkpoints, logs signatures, &amp; overrides status.</a:t>
            </a:r>
          </a:p>
        </p:txBody>
      </p:sp>
    </p:spTree>
  </p:cSld>
  <p:transition spd="slow">
    <p:push dir="l"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38BDF8"/>
                </a:solidFill>
                <a:latin typeface="Segoe UI"/>
              </a:rPr>
              <a:t>CORE MODULE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8FAFC"/>
                </a:solidFill>
                <a:latin typeface="Segoe UI"/>
              </a:rPr>
              <a:t>Procurement Logistics &amp; Sales Invoicing Calibrations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BBF24"/>
                </a:solidFill>
                <a:latin typeface="Segoe UI"/>
              </a:rPr>
              <a:t>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94A3B8"/>
                </a:solidFill>
                <a:latin typeface="Segoe UI"/>
              </a:rPr>
              <a:t>THRESHOLD RE-ORDER TRIGGERS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45720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Auto PO draft: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Auto-generates draft replenishment orders when warehouse raw stocks fall below safety limits.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Receiving Gate: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Enforces strict test checklists (dimensions, purity, weight limits) on cargo parts.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Landed Costs: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Prorates freight, duties, haulage, and brokerage expenses directly to raw material shipments.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137160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1554480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38BDF8"/>
                </a:solidFill>
                <a:latin typeface="Segoe UI"/>
              </a:rPr>
              <a:t>X/Y mm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21488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94A3B8"/>
                </a:solidFill>
                <a:latin typeface="Segoe UI"/>
              </a:rPr>
              <a:t>MILLIMETER MARGIN CALIBRATION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2743200"/>
            <a:ext cx="45720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Payment Stages: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Monitors Paid, Unpaid, Partially Paid, and Cancelled invoices.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Sandboxed Print: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Uses non-blocking &lt;iframe&gt; continuous forms printing to render templates safely away from main client threads.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Align Calibrate: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Gives users precise page margin customization controls to support legacy dot-matrix continuous printers.</a:t>
            </a:r>
          </a:p>
        </p:txBody>
      </p:sp>
    </p:spTree>
  </p:cSld>
  <p:transition spd="slow">
    <p:push dir="l"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38BDF8"/>
                </a:solidFill>
                <a:latin typeface="Segoe UI"/>
              </a:rPr>
              <a:t>IT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8FAFC"/>
                </a:solidFill>
                <a:latin typeface="Segoe UI"/>
              </a:rPr>
              <a:t>Server Infrastructure &amp; Cloud Deployments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38BDF8"/>
                </a:solidFill>
                <a:latin typeface="Segoe UI"/>
              </a:rPr>
              <a:t>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94A3B8"/>
                </a:solidFill>
                <a:latin typeface="Segoe UI"/>
              </a:rPr>
              <a:t>RDS / EC2 / S3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45720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DB Instance: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AWS RDS PostgreSQL (4 vCPU, 16 GB RAM, 100 GB NVMe gp3 storage) for query processing, indexes and lock controls.</a:t>
            </a:r>
          </a:p>
          <a:p>
            <a:pPr>
              <a:spcAft>
                <a:spcPts val="6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Web / CMS Host: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AWS EC2 App Server (t3.xlarge: 4 vCPU, 16 GB RAM, 50 GB SSD) running the Node.js BFF and Headless Directus CMS.</a:t>
            </a:r>
          </a:p>
          <a:p>
            <a:pPr>
              <a:spcAft>
                <a:spcPts val="6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Storage: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S3 Buckets handling media, driver POD signatures, and invoice PDFs.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137160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1554480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34D399"/>
                </a:solidFill>
                <a:latin typeface="Segoe UI"/>
              </a:rPr>
              <a:t>&lt;50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21488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94A3B8"/>
                </a:solidFill>
                <a:latin typeface="Segoe UI"/>
              </a:rPr>
              <a:t>API REQUEST LATENCY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2743200"/>
            <a:ext cx="45720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Local Host: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Intel Xeon E-2300 series server (6 Cores/12 Threads), 32 GB ECC RAM, Enterprise RAID 10 SSD storage, and UPS battery backup.</a:t>
            </a:r>
          </a:p>
          <a:p>
            <a:pPr>
              <a:spcAft>
                <a:spcPts val="6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Bandwidth: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Symmetric business fiber connection (50 Mbps main office, 20 Mbps secondary warehouses) to prevent photo upload saturation.</a:t>
            </a:r>
          </a:p>
          <a:p>
            <a:pPr>
              <a:spcAft>
                <a:spcPts val="600"/>
              </a:spcAft>
            </a:pPr>
            <a:r>
              <a:rPr sz="1150" b="1" i="0">
                <a:solidFill>
                  <a:srgbClr val="F8FAFC"/>
                </a:solidFill>
                <a:latin typeface="Segoe UI"/>
              </a:rPr>
              <a:t>• WAN Failover: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Dual-WAN auto failover router (UniFi/Cisco) switching to secondary ISP links or 5G LTE cell gateways.</a:t>
            </a:r>
          </a:p>
        </p:txBody>
      </p:sp>
    </p:spTree>
  </p:cSld>
  <p:transition spd="slow">
    <p:push dir="l"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38BDF8"/>
                </a:solidFill>
                <a:latin typeface="Segoe UI"/>
              </a:rPr>
              <a:t>IT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8FAFC"/>
                </a:solidFill>
                <a:latin typeface="Segoe UI"/>
              </a:rPr>
              <a:t>Hardware Recommendations &amp; Workstation Devices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28416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296265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38BDF8"/>
                </a:solidFill>
                <a:latin typeface="Segoe UI"/>
              </a:rPr>
              <a:t>IP68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29968"/>
            <a:ext cx="2962656" cy="256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94A3B8"/>
                </a:solidFill>
                <a:latin typeface="Segoe UI"/>
              </a:rPr>
              <a:t>FLOOR WORKSTATION TABLETS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2962656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F8FAFC"/>
                </a:solidFill>
                <a:latin typeface="Segoe UI"/>
              </a:rPr>
              <a:t>• Rugged tablets: </a:t>
            </a:r>
            <a:r>
              <a:rPr sz="1100" b="0" i="0">
                <a:solidFill>
                  <a:srgbClr val="94A3B8"/>
                </a:solidFill>
                <a:latin typeface="Segoe UI"/>
              </a:rPr>
              <a:t>10-inch Samsung Galaxy Tab Active4 Pro / Lenovo K10 with drop protection casings.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F8FAFC"/>
                </a:solidFill>
                <a:latin typeface="Segoe UI"/>
              </a:rPr>
              <a:t>• Mounting: </a:t>
            </a:r>
            <a:r>
              <a:rPr sz="1100" b="0" i="0">
                <a:solidFill>
                  <a:srgbClr val="94A3B8"/>
                </a:solidFill>
                <a:latin typeface="Segoe UI"/>
              </a:rPr>
              <a:t>VESA magnetic arm mounts secured to wall beams to keep screens away from factory grease.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F8FAFC"/>
                </a:solidFill>
                <a:latin typeface="Segoe UI"/>
              </a:rPr>
              <a:t>• Peripherals: </a:t>
            </a:r>
            <a:r>
              <a:rPr sz="1100" b="0" i="0">
                <a:solidFill>
                  <a:srgbClr val="94A3B8"/>
                </a:solidFill>
                <a:latin typeface="Segoe UI"/>
              </a:rPr>
              <a:t>Industrial Zebra DS2278 wireless scanners for fast raw material QR checklists.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371600"/>
            <a:ext cx="3328416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554480"/>
            <a:ext cx="296265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34D399"/>
                </a:solidFill>
                <a:latin typeface="Segoe UI"/>
              </a:rPr>
              <a:t>TC21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029968"/>
            <a:ext cx="2962656" cy="256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94A3B8"/>
                </a:solidFill>
                <a:latin typeface="Segoe UI"/>
              </a:rPr>
              <a:t>WAREHOUSE HANDHELD SCANNERS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377440"/>
            <a:ext cx="2962656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F8FAFC"/>
                </a:solidFill>
                <a:latin typeface="Segoe UI"/>
              </a:rPr>
              <a:t>• Handhelds: </a:t>
            </a:r>
            <a:r>
              <a:rPr sz="1100" b="0" i="0">
                <a:solidFill>
                  <a:srgbClr val="94A3B8"/>
                </a:solidFill>
                <a:latin typeface="Segoe UI"/>
              </a:rPr>
              <a:t>Rugged Zebra TC21/TC26 or Honeywell ScanPal EDA52 mobile computers.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F8FAFC"/>
                </a:solidFill>
                <a:latin typeface="Segoe UI"/>
              </a:rPr>
              <a:t>• Usability: </a:t>
            </a:r>
            <a:r>
              <a:rPr sz="1100" b="0" i="0">
                <a:solidFill>
                  <a:srgbClr val="94A3B8"/>
                </a:solidFill>
                <a:latin typeface="Segoe UI"/>
              </a:rPr>
              <a:t>Integrated barcode scanning engines, single-handed grip layouts, and hot-swappable batteries for floor shifts.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371600"/>
            <a:ext cx="3328416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554480"/>
            <a:ext cx="296265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BBF24"/>
                </a:solidFill>
                <a:latin typeface="Segoe UI"/>
              </a:rPr>
              <a:t>1080p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029968"/>
            <a:ext cx="2962656" cy="256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94A3B8"/>
                </a:solidFill>
                <a:latin typeface="Segoe UI"/>
              </a:rPr>
              <a:t>PLANNERS &amp; ADMINS TERMINALS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377440"/>
            <a:ext cx="2962656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F8FAFC"/>
                </a:solidFill>
                <a:latin typeface="Segoe UI"/>
              </a:rPr>
              <a:t>• Specifications: </a:t>
            </a:r>
            <a:r>
              <a:rPr sz="1100" b="0" i="0">
                <a:solidFill>
                  <a:srgbClr val="94A3B8"/>
                </a:solidFill>
                <a:latin typeface="Segoe UI"/>
              </a:rPr>
              <a:t>Intel Core i5 / Ryzen 5 business laptops or all-in-one terminals with 16 GB memory and SSD storage.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F8FAFC"/>
                </a:solidFill>
                <a:latin typeface="Segoe UI"/>
              </a:rPr>
              <a:t>• Screen Real Estate: </a:t>
            </a:r>
            <a:r>
              <a:rPr sz="1100" b="0" i="0">
                <a:solidFill>
                  <a:srgbClr val="94A3B8"/>
                </a:solidFill>
                <a:latin typeface="Segoe UI"/>
              </a:rPr>
              <a:t>Dual monitors or 21-inch+ Full HD screens required to display scheduling calendars and batch planning grids.</a:t>
            </a:r>
          </a:p>
        </p:txBody>
      </p:sp>
    </p:spTree>
  </p:cSld>
  <p:transition spd="slow">
    <p:push dir="l"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8288" cy="685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60175" y="0"/>
            <a:ext cx="18288" cy="685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5029200"/>
            <a:ext cx="1072865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8FAFC"/>
                </a:solidFill>
                <a:latin typeface="Segoe UI"/>
              </a:rPr>
              <a:t>VOS ERP: Strategic 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9966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 i="0">
                <a:solidFill>
                  <a:srgbClr val="38BDF8"/>
                </a:solidFill>
                <a:latin typeface="Segoe UI"/>
              </a:rPr>
              <a:t>• MRP Material Optimization: </a:t>
            </a:r>
            <a:r>
              <a:rPr sz="1400" b="0" i="0">
                <a:solidFill>
                  <a:srgbClr val="F8FAFC"/>
                </a:solidFill>
                <a:latin typeface="Segoe UI"/>
              </a:rPr>
              <a:t>Prevents inventory outages and stockouts while streamlining procurement costs.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38BDF8"/>
                </a:solidFill>
                <a:latin typeface="Segoe UI"/>
              </a:rPr>
              <a:t>• Operational Compliance: </a:t>
            </a:r>
            <a:r>
              <a:rPr sz="1400" b="0" i="0">
                <a:solidFill>
                  <a:srgbClr val="F8FAFC"/>
                </a:solidFill>
                <a:latin typeface="Segoe UI"/>
              </a:rPr>
              <a:t>Strict step-by-step QA inspection locks enforce manufacturing precision across floor shifts.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38BDF8"/>
                </a:solidFill>
                <a:latin typeface="Segoe UI"/>
              </a:rPr>
              <a:t>• Logistics Fuel Savings: </a:t>
            </a:r>
            <a:r>
              <a:rPr sz="1400" b="0" i="0">
                <a:solidFill>
                  <a:srgbClr val="F8FAFC"/>
                </a:solidFill>
                <a:latin typeface="Segoe UI"/>
              </a:rPr>
              <a:t>Automated Nearest-Neighbor sequences reduce route delivery times and transport mileages.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38BDF8"/>
                </a:solidFill>
                <a:latin typeface="Segoe UI"/>
              </a:rPr>
              <a:t>• Precise Margins: </a:t>
            </a:r>
            <a:r>
              <a:rPr sz="1400" b="0" i="0">
                <a:solidFill>
                  <a:srgbClr val="F8FAFC"/>
                </a:solidFill>
                <a:latin typeface="Segoe UI"/>
              </a:rPr>
              <a:t>Instant Cost Rollups and Forex simulations allow estimators to provide accurate sales bids.</a:t>
            </a:r>
          </a:p>
        </p:txBody>
      </p:sp>
    </p:spTree>
  </p:cSld>
  <p:transition spd="slow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